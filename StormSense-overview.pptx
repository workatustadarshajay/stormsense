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Stock positions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6F6B"/>
              </a:solidFill>
              <a:effectLst/>
            </c:spPr>
          </c:dPt>
          <c:dPt>
            <c:idx val="1"/>
            <c:bubble3D val="0"/>
            <c:spPr>
              <a:solidFill>
                <a:srgbClr val="7A4A00"/>
              </a:solidFill>
              <a:effectLst/>
            </c:spPr>
          </c:dPt>
          <c:dPt>
            <c:idx val="2"/>
            <c:bubble3D val="0"/>
            <c:spPr>
              <a:solidFill>
                <a:srgbClr val="B3321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Balanced</c:v>
                </c:pt>
                <c:pt idx="1">
                  <c:v>Surplus</c:v>
                </c:pt>
                <c:pt idx="2">
                  <c:v>Shortage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23</c:v>
                </c:pt>
                <c:pt idx="1">
                  <c:v>16</c:v>
                </c:pt>
                <c:pt idx="2">
                  <c:v>11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444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StormSense is a weather-driven demand forecasting and store-to-store inventory transfer planner for home improvement retail.
One question, answered every morning: given the weather coming this week, which stores run short, which have extra, and what should move where.
Scope: 10 stores across Florida, Texas and California, 5 weather-sensitive products, 12 months of daily history, a 7-day horizon.
The figures in this deck are measured outputs of the running system; the dataset is generated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physics: weather is the demand signal the business already has, but it is not connected to store-level stock.
Three separate failure modes: storms pull demand forward, heat creates a second driver, and both are local while stock is also local.
So shortages and surplus co-exist. The cost is a missed sale at one store and dead stock at another in the same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day's snapshot: 50 store-by-product positions, of which 11 are short, 16 carry surplus and 23 are balanced.
The point is that the two problems are simultaneous, not sequential — you cannot fix shortage without looking at surplus, and vice versa.
Both are visible on the same morning, which is exactly what makes a store-to-store move the cheapest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audience is the constraint. Non-technical, phone-first and time-boxed — that combination rules out most analytics deliverables.
The output has to be a decision, expressed in the planner's own vocabulary: store, product, running low, extra stock, move, approve.
This is the requirement that shapes the whole design, and it is why the app never shows a query, a table or a model metric to the planner.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product in one line: weather to forecast to shortage and surplus to a ranked transfer to a human decision.
The job runs at 6:00 AM Eastern and is idempotent — running it twice does not change the answer.
Everything up to the last box is automatic; the last box is deliberately a person. We never move stock without a human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 with one rule: the browser never sees Databricks. The API is the single gate.
Databricks owns the data and the forecast; FastAPI owns the rules, roles and audit; React owns the planner's experience.
That separation is what makes it safe to put in front of non-technical users — nothing sensitive or confusing leaks to the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is the feature. A planner will only use a recommendation they believe, and will only keep using it if an approval is obviously safe.
Three guardrails: model promotion is gated on beating baselines, approvals are idempotent and audited, and re-runs never overwrite a decided row.
Every one of these was verified by running it, including a live approve, a repeat approve, and running the pipeline more than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measurable outcome: the model's weighted error is 0.40 against 0.67 for “same as last week” and 0.57 for the 28-day average.
That is roughly a 40% reduction against the baseline the business effectively runs on today.
It is measured on the last 28 days, held out from training — a time split, never a random split.
Be clear in the room: these are measured outputs of the running system on generated sample data, not production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ROI view: the scale of the decision load and what the recommendations cover.
Each run produces 350 forecasts — 10 stores by 5 products by 7 days — and classifies 50 stock positions, of which 13 carry a recommendation and 4 are urgent.
The moves cover roughly 54 thousand dollars of sales at risk, and the planner's effort collapses to approving a short list.
Again: measured on the sample dataset. The honest framing is that the mechanism and its measured accuracy are real; the money figure scales with real feeds.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and forecast side is entirely Databricks: Unity Catalog for governed Delta tables, serverless notebooks for the pipeline.
MLflow and the Model Registry hold versions, and the live model is picked up by alias, so promotion is a one-line change.
Workflows runs the daily cycle, Genie gives a read-only natural-language surface, and Declarative Automation Bundles mean the whole estate is created from code rather than clicked together.
The model itself is scikit-learn's HistGradientBoostingRegressor with Poisson loss — the right family for count demand, and it runs on serverless without a custom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application stack is deliberately boring and well-tested: FastAPI behind React, with SQL that is always parameterized.
TanStack Query keeps the planner's screens responsive and honest about loading, empty and error states.
Quality is part of the stack: unit tests for the library and API, Playwright journeys for the browser, plus accessibility and console-error checks in CI.
Everything runs on sample data with one command and against the real workspace after configuration, so it is demonstrable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value: weather in, a ranked inventory plan out, a human decision in minutes.
Two things worth repeating — the accuracy is measured against a naive baseline, and the whole estate is created from code.
Invite the obvious questions: where do real feeds come from next, and what happens once the app is hosted inside the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852160" cy="5852160"/>
          </a:xfrm>
          <a:prstGeom prst="ellipse">
            <a:avLst/>
          </a:prstGeom>
          <a:solidFill>
            <a:srgbClr val="73D6CD">
              <a:alpha val="8000"/>
            </a:srgbClr>
          </a:solidFill>
          <a:ln w="12700">
            <a:solidFill>
              <a:srgbClr val="101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017520"/>
            <a:ext cx="4206240" cy="4206240"/>
          </a:xfrm>
          <a:prstGeom prst="ellipse">
            <a:avLst/>
          </a:prstGeom>
          <a:solidFill>
            <a:srgbClr val="146F6B">
              <a:alpha val="22000"/>
            </a:srgbClr>
          </a:solidFill>
          <a:ln w="12700">
            <a:solidFill>
              <a:srgbClr val="101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384048" cy="109728"/>
          </a:xfrm>
          <a:prstGeom prst="roundRect">
            <a:avLst>
              <a:gd name="adj" fmla="val 66667"/>
            </a:avLst>
          </a:prstGeom>
          <a:solidFill>
            <a:srgbClr val="73D6CD"/>
          </a:solidFill>
          <a:ln w="12700">
            <a:solidFill>
              <a:srgbClr val="73D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13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240" kern="0" dirty="0">
                <a:solidFill>
                  <a:srgbClr val="73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WEATHER-AWARE INVENTORY PLANNING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01952"/>
            <a:ext cx="9326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StormSense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C7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morning: which stores will run short, which have extra, and what should move where — decided by a planner in a couple of minutes.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2880360" cy="1024128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3D6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5074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73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77824" y="5532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· 3 regions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0" y="4892040"/>
            <a:ext cx="2880360" cy="1024128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3D6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78224" y="5074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73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78224" y="5532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weather-sensitive products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40880" y="4892040"/>
            <a:ext cx="2880360" cy="1024128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3D6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5074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73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78624" y="5532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220" kern="0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moves demand faster than inventory moves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457346" cy="2606040"/>
          </a:xfrm>
          <a:prstGeom prst="roundRect">
            <a:avLst>
              <a:gd name="adj" fmla="val 2807"/>
            </a:avLst>
          </a:prstGeom>
          <a:solidFill>
            <a:srgbClr val="FDE8E3"/>
          </a:solidFill>
          <a:ln w="12700">
            <a:solidFill>
              <a:srgbClr val="FDE8E3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331720"/>
            <a:ext cx="310896" cy="310896"/>
          </a:xfrm>
          <a:prstGeom prst="ellipse">
            <a:avLst/>
          </a:prstGeom>
          <a:solidFill>
            <a:srgbClr val="B3321F"/>
          </a:solidFill>
          <a:ln w="12700">
            <a:solidFill>
              <a:srgbClr val="B33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798064"/>
            <a:ext cx="2872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Storms pull demand forward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32688" y="3502152"/>
            <a:ext cx="2872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storm in the forecast spikes generators, tarps, pumps and plywood within days — in the stores in its path, not chain-wide.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7174" y="2057400"/>
            <a:ext cx="3457346" cy="2606040"/>
          </a:xfrm>
          <a:prstGeom prst="roundRect">
            <a:avLst>
              <a:gd name="adj" fmla="val 2807"/>
            </a:avLst>
          </a:prstGeom>
          <a:solidFill>
            <a:srgbClr val="FCEFD2"/>
          </a:solidFill>
          <a:ln w="12700">
            <a:solidFill>
              <a:srgbClr val="FCEFD2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9782" y="2331720"/>
            <a:ext cx="310896" cy="310896"/>
          </a:xfrm>
          <a:prstGeom prst="ellipse">
            <a:avLst/>
          </a:prstGeom>
          <a:solidFill>
            <a:srgbClr val="7A4A00"/>
          </a:solidFill>
          <a:ln w="12700">
            <a:solidFill>
              <a:srgbClr val="7A4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9782" y="2798064"/>
            <a:ext cx="2872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drives a second surge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59782" y="3502152"/>
            <a:ext cx="2872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waves lift coolers and pumps. Two different weather drivers can hit two different regions in the same week.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4269" y="2057400"/>
            <a:ext cx="3457346" cy="2606040"/>
          </a:xfrm>
          <a:prstGeom prst="roundRect">
            <a:avLst>
              <a:gd name="adj" fmla="val 2807"/>
            </a:avLst>
          </a:prstGeom>
          <a:solidFill>
            <a:srgbClr val="E1EFF8"/>
          </a:solidFill>
          <a:ln w="12700">
            <a:solidFill>
              <a:srgbClr val="E1EFF8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6877" y="2331720"/>
            <a:ext cx="310896" cy="310896"/>
          </a:xfrm>
          <a:prstGeom prst="ellipse">
            <a:avLst/>
          </a:prstGeom>
          <a:solidFill>
            <a:srgbClr val="1D5B8A"/>
          </a:solidFill>
          <a:ln w="12700">
            <a:solidFill>
              <a:srgbClr val="1D5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6877" y="2798064"/>
            <a:ext cx="2872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is local, stock is local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86877" y="3502152"/>
            <a:ext cx="2872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is hyper-local, so a shortage and a surplus can sit one region apart while both are true at once.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E7EDEE"/>
          </a:solidFill>
          <a:ln w="12700">
            <a:solidFill>
              <a:srgbClr val="E7E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285232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to act is a few days. Today it closes before a planner can work through 50 store-by-product positions against a 7-day forecast by hand.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220" kern="0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Shortages and surplus happen at the same time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74520"/>
          <a:ext cx="52120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1938528"/>
            <a:ext cx="5196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355080" y="2852928"/>
            <a:ext cx="5196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× product positions checked every run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3456432"/>
            <a:ext cx="5196535" cy="731520"/>
          </a:xfrm>
          <a:prstGeom prst="roundRect">
            <a:avLst>
              <a:gd name="adj" fmla="val 100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11112" y="3584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B3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589520" y="3675888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on a product the forecast says will sell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4325112"/>
            <a:ext cx="5196535" cy="731520"/>
          </a:xfrm>
          <a:prstGeom prst="roundRect">
            <a:avLst>
              <a:gd name="adj" fmla="val 100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11112" y="44531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589520" y="4544568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more than the week needs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55080" y="5193792"/>
            <a:ext cx="5196535" cy="731520"/>
          </a:xfrm>
          <a:prstGeom prst="roundRect">
            <a:avLst>
              <a:gd name="adj" fmla="val 100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11112" y="5321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589520" y="5413248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as they stand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220" kern="0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Planners need a decision, not another dashboard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911535" cy="1078992"/>
          </a:xfrm>
          <a:prstGeom prst="roundRect">
            <a:avLst>
              <a:gd name="adj" fmla="val 6780"/>
            </a:avLst>
          </a:prstGeom>
          <a:solidFill>
            <a:srgbClr val="EEF3F2"/>
          </a:solidFill>
          <a:ln w="9525">
            <a:solidFill>
              <a:srgbClr val="D5DE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2221992"/>
            <a:ext cx="475488" cy="475488"/>
          </a:xfrm>
          <a:prstGeom prst="ellipse">
            <a:avLst/>
          </a:prstGeom>
          <a:solidFill>
            <a:srgbClr val="101B2B"/>
          </a:solidFill>
          <a:ln w="12700">
            <a:solidFill>
              <a:srgbClr val="101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32257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73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64208" y="2157984"/>
            <a:ext cx="9539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Planners are non-technical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64208" y="2523744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act are merchandising and store planners. They think in stores, products and weeks — not tables, queries or error metrics.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63824"/>
            <a:ext cx="10911535" cy="1078992"/>
          </a:xfrm>
          <a:prstGeom prst="roundRect">
            <a:avLst>
              <a:gd name="adj" fmla="val 6780"/>
            </a:avLst>
          </a:prstGeom>
          <a:solidFill>
            <a:srgbClr val="FBFDFC"/>
          </a:solidFill>
          <a:ln w="9525">
            <a:solidFill>
              <a:srgbClr val="D5DE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3465576"/>
            <a:ext cx="475488" cy="475488"/>
          </a:xfrm>
          <a:prstGeom prst="ellipse">
            <a:avLst/>
          </a:prstGeom>
          <a:solidFill>
            <a:srgbClr val="101B2B"/>
          </a:solidFill>
          <a:ln w="12700">
            <a:solidFill>
              <a:srgbClr val="101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56616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73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64208" y="3401568"/>
            <a:ext cx="9539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work phone-first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64208" y="3767328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happens away from a desk. Anything that needs a laptop, a query editor or a data dictionary will not get used.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07408"/>
            <a:ext cx="10911535" cy="1078992"/>
          </a:xfrm>
          <a:prstGeom prst="roundRect">
            <a:avLst>
              <a:gd name="adj" fmla="val 6780"/>
            </a:avLst>
          </a:prstGeom>
          <a:solidFill>
            <a:srgbClr val="EEF3F2"/>
          </a:solidFill>
          <a:ln w="9525">
            <a:solidFill>
              <a:srgbClr val="D5DE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4709160"/>
            <a:ext cx="475488" cy="475488"/>
          </a:xfrm>
          <a:prstGeom prst="ellipse">
            <a:avLst/>
          </a:prstGeom>
          <a:solidFill>
            <a:srgbClr val="101B2B"/>
          </a:solidFill>
          <a:ln w="12700">
            <a:solidFill>
              <a:srgbClr val="101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80974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73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64208" y="4645152"/>
            <a:ext cx="9539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is time-boxed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64208" y="5010912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does not wait for a weekly meeting. By the time a manual review finishes, the transfer window has usually closed.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77900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deliverable is not another chart — it is a ranked, plain-language recommendation a planner can approve in seconds.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220" kern="0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question, answered every morning at 6:00 AM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926275" cy="1965960"/>
          </a:xfrm>
          <a:prstGeom prst="roundRect">
            <a:avLst>
              <a:gd name="adj" fmla="val 3798"/>
            </a:avLst>
          </a:prstGeom>
          <a:solidFill>
            <a:srgbClr val="DCF0ED"/>
          </a:solidFill>
          <a:ln w="12700">
            <a:solidFill>
              <a:srgbClr val="DCF0ED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578608"/>
            <a:ext cx="15239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F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3273552"/>
            <a:ext cx="15239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+ 7-day forecast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16647" y="3145536"/>
            <a:ext cx="219456" cy="310896"/>
          </a:xfrm>
          <a:prstGeom prst="rightArrow">
            <a:avLst/>
          </a:prstGeom>
          <a:solidFill>
            <a:srgbClr val="73D6CD"/>
          </a:solidFill>
          <a:ln w="12700">
            <a:solidFill>
              <a:srgbClr val="73D6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6395" y="2331720"/>
            <a:ext cx="1926275" cy="1965960"/>
          </a:xfrm>
          <a:prstGeom prst="roundRect">
            <a:avLst>
              <a:gd name="adj" fmla="val 3798"/>
            </a:avLst>
          </a:prstGeom>
          <a:solidFill>
            <a:srgbClr val="DCF0ED"/>
          </a:solidFill>
          <a:ln w="12700">
            <a:solidFill>
              <a:srgbClr val="DCF0ED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7563" y="2578608"/>
            <a:ext cx="15239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F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087563" y="3273552"/>
            <a:ext cx="15239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per store &amp; product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62962" y="3145536"/>
            <a:ext cx="219456" cy="310896"/>
          </a:xfrm>
          <a:prstGeom prst="rightArrow">
            <a:avLst/>
          </a:prstGeom>
          <a:solidFill>
            <a:srgbClr val="73D6CD"/>
          </a:solidFill>
          <a:ln w="12700">
            <a:solidFill>
              <a:srgbClr val="73D6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2710" y="2331720"/>
            <a:ext cx="1926275" cy="1965960"/>
          </a:xfrm>
          <a:prstGeom prst="roundRect">
            <a:avLst>
              <a:gd name="adj" fmla="val 3798"/>
            </a:avLst>
          </a:prstGeom>
          <a:solidFill>
            <a:srgbClr val="DCF0ED"/>
          </a:solidFill>
          <a:ln w="12700">
            <a:solidFill>
              <a:srgbClr val="DCF0ED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33878" y="2578608"/>
            <a:ext cx="15239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F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Shortage / surplus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333878" y="3273552"/>
            <a:ext cx="15239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week ahead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09277" y="3145536"/>
            <a:ext cx="219456" cy="310896"/>
          </a:xfrm>
          <a:prstGeom prst="rightArrow">
            <a:avLst/>
          </a:prstGeom>
          <a:solidFill>
            <a:srgbClr val="73D6CD"/>
          </a:solidFill>
          <a:ln w="12700">
            <a:solidFill>
              <a:srgbClr val="73D6C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9025" y="2331720"/>
            <a:ext cx="1926275" cy="1965960"/>
          </a:xfrm>
          <a:prstGeom prst="roundRect">
            <a:avLst>
              <a:gd name="adj" fmla="val 3798"/>
            </a:avLst>
          </a:prstGeom>
          <a:solidFill>
            <a:srgbClr val="DCF0ED"/>
          </a:solidFill>
          <a:ln w="12700">
            <a:solidFill>
              <a:srgbClr val="DCF0ED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0193" y="2578608"/>
            <a:ext cx="15239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F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80193" y="3273552"/>
            <a:ext cx="15239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spare stock, ranked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55592" y="3145536"/>
            <a:ext cx="219456" cy="310896"/>
          </a:xfrm>
          <a:prstGeom prst="rightArrow">
            <a:avLst/>
          </a:prstGeom>
          <a:solidFill>
            <a:srgbClr val="73D6CD"/>
          </a:solidFill>
          <a:ln w="12700">
            <a:solidFill>
              <a:srgbClr val="73D6C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25340" y="2331720"/>
            <a:ext cx="1926275" cy="1965960"/>
          </a:xfrm>
          <a:prstGeom prst="roundRect">
            <a:avLst>
              <a:gd name="adj" fmla="val 3798"/>
            </a:avLst>
          </a:prstGeom>
          <a:solidFill>
            <a:srgbClr val="101B2B"/>
          </a:solidFill>
          <a:ln w="12700">
            <a:solidFill>
              <a:srgbClr val="101B2B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26508" y="2578608"/>
            <a:ext cx="15239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decides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826508" y="3273552"/>
            <a:ext cx="15239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7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on a phone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4617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cycle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983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job refreshes weather, rebuilds features, scores with the current champion model, finds gaps and writes ranked transfer recommendations — then the planner sees only the last box.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220" kern="0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layers, one decision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457346" cy="3794760"/>
          </a:xfrm>
          <a:prstGeom prst="roundRect">
            <a:avLst>
              <a:gd name="adj" fmla="val 2116"/>
            </a:avLst>
          </a:prstGeom>
          <a:solidFill>
            <a:srgbClr val="101B2B"/>
          </a:solidFill>
          <a:ln w="12700">
            <a:solidFill>
              <a:srgbClr val="101B2B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0976" y="2286000"/>
            <a:ext cx="2835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0976" y="2688336"/>
            <a:ext cx="28355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forecasting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50976" y="3127248"/>
            <a:ext cx="2835554" cy="10973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383280"/>
            <a:ext cx="28172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D5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Delta tables in Unity Catalog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D5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features over a 7-day horizon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D5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 served by alias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7174" y="2011680"/>
            <a:ext cx="3457346" cy="3794760"/>
          </a:xfrm>
          <a:prstGeom prst="roundRect">
            <a:avLst>
              <a:gd name="adj" fmla="val 2116"/>
            </a:avLst>
          </a:prstGeom>
          <a:solidFill>
            <a:srgbClr val="DCF0ED"/>
          </a:solidFill>
          <a:ln w="12700">
            <a:solidFill>
              <a:srgbClr val="DCF0ED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78070" y="2286000"/>
            <a:ext cx="2835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gatekeeper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78070" y="2688336"/>
            <a:ext cx="28355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path to the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78070" y="3127248"/>
            <a:ext cx="2835554" cy="10973"/>
          </a:xfrm>
          <a:prstGeom prst="rect">
            <a:avLst/>
          </a:prstGeom>
          <a:solidFill>
            <a:srgbClr val="0F5754">
              <a:alpha val="35000"/>
            </a:srgbClr>
          </a:solidFill>
          <a:ln w="12700">
            <a:solidFill>
              <a:srgbClr val="0F5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8070" y="3383280"/>
            <a:ext cx="28172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Bound-parameter SQL only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guarded approvals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written to an audit trail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4269" y="2011680"/>
            <a:ext cx="3457346" cy="3794760"/>
          </a:xfrm>
          <a:prstGeom prst="roundRect">
            <a:avLst>
              <a:gd name="adj" fmla="val 2116"/>
            </a:avLst>
          </a:prstGeom>
          <a:solidFill>
            <a:srgbClr val="FDE8E3"/>
          </a:solidFill>
          <a:ln w="12700">
            <a:solidFill>
              <a:srgbClr val="FDE8E3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05165" y="2286000"/>
            <a:ext cx="2835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B3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app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05165" y="2688336"/>
            <a:ext cx="28355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3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planner works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05165" y="3127248"/>
            <a:ext cx="2835554" cy="10973"/>
          </a:xfrm>
          <a:prstGeom prst="rect">
            <a:avLst/>
          </a:prstGeom>
          <a:solidFill>
            <a:srgbClr val="B3321F">
              <a:alpha val="35000"/>
            </a:srgbClr>
          </a:solidFill>
          <a:ln w="12700">
            <a:solidFill>
              <a:srgbClr val="B33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5165" y="3383280"/>
            <a:ext cx="28172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Transfers, Store forecast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open questions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empty and error states in plain words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never talks to Databricks. The API holds the service principal, so credentials never reach the client.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220" kern="0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trusted, and safe to re-run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977640" cy="3794760"/>
          </a:xfrm>
          <a:prstGeom prst="roundRect">
            <a:avLst>
              <a:gd name="adj" fmla="val 1928"/>
            </a:avLst>
          </a:prstGeom>
          <a:solidFill>
            <a:srgbClr val="101B2B"/>
          </a:solidFill>
          <a:ln w="12700">
            <a:solidFill>
              <a:srgbClr val="101B2B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395728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recommendation you can act on without checking it first.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guardrails make the output safe to trust: the model has to beat simple baselines, an approval can only fire once, and no decided row is ever overwritten.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83480" y="2011680"/>
            <a:ext cx="6568135" cy="1097280"/>
          </a:xfrm>
          <a:prstGeom prst="roundRect">
            <a:avLst>
              <a:gd name="adj" fmla="val 666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2194560"/>
            <a:ext cx="601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must earn its place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257800" y="2560320"/>
            <a:ext cx="6019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promoted to champion only if it beats “same as last week” and the trailing 28-day average on held-out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83480" y="3310128"/>
            <a:ext cx="6568135" cy="1097280"/>
          </a:xfrm>
          <a:prstGeom prst="roundRect">
            <a:avLst>
              <a:gd name="adj" fmla="val 666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3493008"/>
            <a:ext cx="601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approval cannot double-apply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257800" y="3858768"/>
            <a:ext cx="6019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still-pending rows change, stamped with a request id — so a repeat, or a second person, is told it is already handled.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83480" y="4608576"/>
            <a:ext cx="6568135" cy="1097280"/>
          </a:xfrm>
          <a:prstGeom prst="roundRect">
            <a:avLst>
              <a:gd name="adj" fmla="val 666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4791456"/>
            <a:ext cx="601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Re-running changes nothing it should not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57800" y="5157216"/>
            <a:ext cx="6019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Forecast, gaps and weather replace a single day; recommendations merge into pending rows and never touch a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220" kern="0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forecast beats the naive baselines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forecast error (WAPE) for the champion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DCF0ED"/>
          </a:solidFill>
          <a:ln w="12700">
            <a:solidFill>
              <a:srgbClr val="DCF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657600"/>
            <a:ext cx="3712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F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40% lower error than “same as last week” — the baseline the business effectively uses today.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last 28 days, held out from training and never used to fit the model.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57800" y="1810512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forecast error by method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57800" y="233172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model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57800" y="2660904"/>
            <a:ext cx="5989320" cy="310896"/>
          </a:xfrm>
          <a:prstGeom prst="roundRect">
            <a:avLst>
              <a:gd name="adj" fmla="val 23529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2660904"/>
            <a:ext cx="3017120" cy="310896"/>
          </a:xfrm>
          <a:prstGeom prst="rect">
            <a:avLst>
              <a:gd name="adj" fmla="val 23529"/>
            </a:avLst>
          </a:prstGeom>
          <a:solidFill>
            <a:srgbClr val="146F6B"/>
          </a:solidFill>
          <a:ln w="12700">
            <a:solidFill>
              <a:srgbClr val="146F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224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33832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28-day average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257800" y="3712464"/>
            <a:ext cx="5989320" cy="310896"/>
          </a:xfrm>
          <a:prstGeom prst="roundRect">
            <a:avLst>
              <a:gd name="adj" fmla="val 23529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3712464"/>
            <a:ext cx="4274877" cy="310896"/>
          </a:xfrm>
          <a:prstGeom prst="rect">
            <a:avLst>
              <a:gd name="adj" fmla="val 23529"/>
            </a:avLst>
          </a:prstGeom>
          <a:solidFill>
            <a:srgbClr val="C2CDD1"/>
          </a:solidFill>
          <a:ln w="12700">
            <a:solidFill>
              <a:srgbClr val="C2CD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78981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44348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as last week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257800" y="4764024"/>
            <a:ext cx="5989320" cy="310896"/>
          </a:xfrm>
          <a:prstGeom prst="roundRect">
            <a:avLst>
              <a:gd name="adj" fmla="val 23529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4764024"/>
            <a:ext cx="4993596" cy="310896"/>
          </a:xfrm>
          <a:prstGeom prst="rect">
            <a:avLst>
              <a:gd name="adj" fmla="val 23529"/>
            </a:avLst>
          </a:prstGeom>
          <a:solidFill>
            <a:srgbClr val="C2CDD1"/>
          </a:solidFill>
          <a:ln w="12700">
            <a:solidFill>
              <a:srgbClr val="C2CD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9770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5321808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better. The grey bars are the simple methods the business runs on today; figures are measured outputs on generated sample data.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220" kern="0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in minutes, not days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2535860" cy="2286000"/>
          </a:xfrm>
          <a:prstGeom prst="roundRect">
            <a:avLst>
              <a:gd name="adj" fmla="val 32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2304288"/>
            <a:ext cx="2060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77824" y="3108960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every run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7824" y="3730752"/>
            <a:ext cx="2060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stores × 5 products × 7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31972" y="2057400"/>
            <a:ext cx="2535860" cy="2286000"/>
          </a:xfrm>
          <a:prstGeom prst="roundRect">
            <a:avLst>
              <a:gd name="adj" fmla="val 32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69716" y="2304288"/>
            <a:ext cx="2060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69716" y="3108960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recommendations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69716" y="3730752"/>
            <a:ext cx="2060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and waiting for a decision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2057400"/>
            <a:ext cx="2535860" cy="2286000"/>
          </a:xfrm>
          <a:prstGeom prst="roundRect">
            <a:avLst>
              <a:gd name="adj" fmla="val 32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61608" y="2304288"/>
            <a:ext cx="2060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B3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61608" y="3108960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urgent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61608" y="3730752"/>
            <a:ext cx="2060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shortfall is largest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15755" y="2057400"/>
            <a:ext cx="2535860" cy="2286000"/>
          </a:xfrm>
          <a:prstGeom prst="roundRect">
            <a:avLst>
              <a:gd name="adj" fmla="val 3200"/>
            </a:avLst>
          </a:prstGeom>
          <a:solidFill>
            <a:srgbClr val="DCF0ED"/>
          </a:solidFill>
          <a:ln w="12700">
            <a:solidFill>
              <a:srgbClr val="DCF0ED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53499" y="2304288"/>
            <a:ext cx="2060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0F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~$54k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253499" y="3108960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protected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253499" y="3730752"/>
            <a:ext cx="2060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the stock the moves cover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E7EDEE"/>
          </a:solidFill>
          <a:ln w="12700">
            <a:solidFill>
              <a:srgbClr val="E7E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901184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that used to be a manual, reactive review of every store and product now arrives as a short, ranked list — so the planner's time goes into deciding, not assembling.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one daily run. Figures are measured outputs of the running system; the dataset is generated sample data.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220" kern="0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Databricks: the data and forecasting engine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18608" cy="914400"/>
          </a:xfrm>
          <a:prstGeom prst="roundRect">
            <a:avLst>
              <a:gd name="adj" fmla="val 80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240280"/>
            <a:ext cx="274320" cy="274320"/>
          </a:xfrm>
          <a:prstGeom prst="ellipse">
            <a:avLst/>
          </a:prstGeom>
          <a:solidFill>
            <a:srgbClr val="146F6B"/>
          </a:solidFill>
          <a:ln w="12700">
            <a:solidFill>
              <a:srgbClr val="146F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066544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377440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Delta tables, one governed home for every store, product and forecast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920240"/>
            <a:ext cx="5318608" cy="914400"/>
          </a:xfrm>
          <a:prstGeom prst="roundRect">
            <a:avLst>
              <a:gd name="adj" fmla="val 80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89040" y="2240280"/>
            <a:ext cx="274320" cy="274320"/>
          </a:xfrm>
          <a:prstGeom prst="ellipse">
            <a:avLst/>
          </a:prstGeom>
          <a:solidFill>
            <a:srgbClr val="146F6B"/>
          </a:solidFill>
          <a:ln w="12700">
            <a:solidFill>
              <a:srgbClr val="146F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91376" y="2066544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notebooks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91376" y="2377440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notebooks, no clusters to size or manage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80944"/>
            <a:ext cx="5318608" cy="914400"/>
          </a:xfrm>
          <a:prstGeom prst="roundRect">
            <a:avLst>
              <a:gd name="adj" fmla="val 80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300984"/>
            <a:ext cx="274320" cy="274320"/>
          </a:xfrm>
          <a:prstGeom prst="ellipse">
            <a:avLst/>
          </a:prstGeom>
          <a:solidFill>
            <a:srgbClr val="146F6B"/>
          </a:solidFill>
          <a:ln w="12700">
            <a:solidFill>
              <a:srgbClr val="146F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3127248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+ Model Registry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3438144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runs; the live model is served by the champion alias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3008" y="2980944"/>
            <a:ext cx="5318608" cy="914400"/>
          </a:xfrm>
          <a:prstGeom prst="roundRect">
            <a:avLst>
              <a:gd name="adj" fmla="val 80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9040" y="3300984"/>
            <a:ext cx="274320" cy="274320"/>
          </a:xfrm>
          <a:prstGeom prst="ellipse">
            <a:avLst/>
          </a:prstGeom>
          <a:solidFill>
            <a:srgbClr val="146F6B"/>
          </a:solidFill>
          <a:ln w="12700">
            <a:solidFill>
              <a:srgbClr val="146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1376" y="3127248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91376" y="3438144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6:00 AM daily cycle, with retries and failure email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041648"/>
            <a:ext cx="5318608" cy="914400"/>
          </a:xfrm>
          <a:prstGeom prst="roundRect">
            <a:avLst>
              <a:gd name="adj" fmla="val 80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" y="4361688"/>
            <a:ext cx="274320" cy="274320"/>
          </a:xfrm>
          <a:prstGeom prst="ellipse">
            <a:avLst/>
          </a:prstGeom>
          <a:solidFill>
            <a:srgbClr val="146F6B"/>
          </a:solidFill>
          <a:ln w="12700">
            <a:solidFill>
              <a:srgbClr val="146F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8448" y="4187952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98448" y="4498848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Ask space for open questions in plain language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33008" y="4041648"/>
            <a:ext cx="5318608" cy="914400"/>
          </a:xfrm>
          <a:prstGeom prst="roundRect">
            <a:avLst>
              <a:gd name="adj" fmla="val 80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9040" y="4361688"/>
            <a:ext cx="274320" cy="274320"/>
          </a:xfrm>
          <a:prstGeom prst="ellipse">
            <a:avLst/>
          </a:prstGeom>
          <a:solidFill>
            <a:srgbClr val="146F6B"/>
          </a:solidFill>
          <a:ln w="12700">
            <a:solidFill>
              <a:srgbClr val="146F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1376" y="4187952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Automation Bundles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91376" y="4498848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jobs, model and app all created from code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102352"/>
            <a:ext cx="5318608" cy="914400"/>
          </a:xfrm>
          <a:prstGeom prst="roundRect">
            <a:avLst>
              <a:gd name="adj" fmla="val 80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" y="5422392"/>
            <a:ext cx="274320" cy="274320"/>
          </a:xfrm>
          <a:prstGeom prst="ellipse">
            <a:avLst/>
          </a:prstGeom>
          <a:solidFill>
            <a:srgbClr val="146F6B"/>
          </a:solidFill>
          <a:ln w="12700">
            <a:solidFill>
              <a:srgbClr val="146F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98448" y="5248656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+ Unity Catalog grants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98448" y="5559552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 for the app's own identity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33008" y="5102352"/>
            <a:ext cx="5318608" cy="914400"/>
          </a:xfrm>
          <a:prstGeom prst="roundRect">
            <a:avLst>
              <a:gd name="adj" fmla="val 80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89040" y="5422392"/>
            <a:ext cx="274320" cy="274320"/>
          </a:xfrm>
          <a:prstGeom prst="ellipse">
            <a:avLst/>
          </a:prstGeom>
          <a:solidFill>
            <a:srgbClr val="146F6B"/>
          </a:solidFill>
          <a:ln w="12700">
            <a:solidFill>
              <a:srgbClr val="146F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91376" y="5248656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on serverless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91376" y="5559552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with Poisson loss for count demand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220" kern="0" dirty="0">
                <a:solidFill>
                  <a:srgbClr val="14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stack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3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18608" cy="1874520"/>
          </a:xfrm>
          <a:prstGeom prst="roundRect">
            <a:avLst>
              <a:gd name="adj" fmla="val 3902"/>
            </a:avLst>
          </a:prstGeom>
          <a:solidFill>
            <a:srgbClr val="FBFDFC"/>
          </a:solidFill>
          <a:ln w="12700">
            <a:solidFill>
              <a:srgbClr val="D5DEDC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21992"/>
            <a:ext cx="237744" cy="237744"/>
          </a:xfrm>
          <a:prstGeom prst="ellipse">
            <a:avLst/>
          </a:prstGeom>
          <a:solidFill>
            <a:srgbClr val="146F6B"/>
          </a:solidFill>
          <a:ln w="12700">
            <a:solidFill>
              <a:srgbClr val="146F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14884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80160" y="2532888"/>
            <a:ext cx="440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+ FastAPI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Bound-parameter SQL only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audit trail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types generated for the client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1965960"/>
            <a:ext cx="5318608" cy="1874520"/>
          </a:xfrm>
          <a:prstGeom prst="roundRect">
            <a:avLst>
              <a:gd name="adj" fmla="val 3902"/>
            </a:avLst>
          </a:prstGeom>
          <a:solidFill>
            <a:srgbClr val="FBFDFC"/>
          </a:solidFill>
          <a:ln w="12700">
            <a:solidFill>
              <a:srgbClr val="D5DEDC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7328" y="2221992"/>
            <a:ext cx="237744" cy="237744"/>
          </a:xfrm>
          <a:prstGeom prst="ellipse">
            <a:avLst/>
          </a:prstGeom>
          <a:solidFill>
            <a:srgbClr val="B3321F"/>
          </a:solidFill>
          <a:ln w="12700">
            <a:solidFill>
              <a:srgbClr val="B33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73088" y="214884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73088" y="2532888"/>
            <a:ext cx="440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build, Tailwind 4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+ TanStack Query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Phone-first, accessible, and tested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18608" cy="1874520"/>
          </a:xfrm>
          <a:prstGeom prst="roundRect">
            <a:avLst>
              <a:gd name="adj" fmla="val 3902"/>
            </a:avLst>
          </a:prstGeom>
          <a:solidFill>
            <a:srgbClr val="FBFDFC"/>
          </a:solidFill>
          <a:ln w="12700">
            <a:solidFill>
              <a:srgbClr val="D5DEDC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79392"/>
            <a:ext cx="237744" cy="237744"/>
          </a:xfrm>
          <a:prstGeom prst="ellipse">
            <a:avLst/>
          </a:prstGeom>
          <a:solidFill>
            <a:srgbClr val="1D5B8A"/>
          </a:solidFill>
          <a:ln w="12700">
            <a:solidFill>
              <a:srgbClr val="1D5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20624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model libraries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80160" y="4590288"/>
            <a:ext cx="440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pipeline library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forecaster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Weather Service adapter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Sample-data generator for offline runs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3008" y="4023360"/>
            <a:ext cx="5318608" cy="1874520"/>
          </a:xfrm>
          <a:prstGeom prst="roundRect">
            <a:avLst>
              <a:gd name="adj" fmla="val 3902"/>
            </a:avLst>
          </a:prstGeom>
          <a:solidFill>
            <a:srgbClr val="FBFDFC"/>
          </a:solidFill>
          <a:ln w="12700">
            <a:solidFill>
              <a:srgbClr val="D5DEDC"/>
            </a:solidFill>
            <a:prstDash val="solid"/>
          </a:ln>
          <a:effectLst>
            <a:outerShdw sx="100000" sy="100000" kx="0" ky="0" algn="bl" rotWithShape="0" blurRad="88900" dist="25400" dir="5400000">
              <a:srgbClr val="9AA5A3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7328" y="4279392"/>
            <a:ext cx="237744" cy="237744"/>
          </a:xfrm>
          <a:prstGeom prst="ellipse">
            <a:avLst/>
          </a:prstGeom>
          <a:solidFill>
            <a:srgbClr val="7A4A00"/>
          </a:solidFill>
          <a:ln w="12700">
            <a:solidFill>
              <a:srgbClr val="7A4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3088" y="420624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0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delivery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73088" y="4590288"/>
            <a:ext cx="440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for the library and the API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for browser journeys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and console-error checks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and Pages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3749040"/>
            <a:ext cx="5486400" cy="5486400"/>
          </a:xfrm>
          <a:prstGeom prst="ellipse">
            <a:avLst/>
          </a:prstGeom>
          <a:solidFill>
            <a:srgbClr val="146F6B">
              <a:alpha val="22000"/>
            </a:srgbClr>
          </a:solidFill>
          <a:ln w="12700">
            <a:solidFill>
              <a:srgbClr val="101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2011680"/>
            <a:ext cx="5669280" cy="5669280"/>
          </a:xfrm>
          <a:prstGeom prst="ellipse">
            <a:avLst/>
          </a:prstGeom>
          <a:solidFill>
            <a:srgbClr val="73D6CD">
              <a:alpha val="8000"/>
            </a:srgbClr>
          </a:solidFill>
          <a:ln w="12700">
            <a:solidFill>
              <a:srgbClr val="101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084832"/>
            <a:ext cx="384048" cy="109728"/>
          </a:xfrm>
          <a:prstGeom prst="roundRect">
            <a:avLst>
              <a:gd name="adj" fmla="val 66667"/>
            </a:avLst>
          </a:prstGeom>
          <a:solidFill>
            <a:srgbClr val="73D6CD"/>
          </a:solidFill>
          <a:ln w="12700">
            <a:solidFill>
              <a:srgbClr val="73D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C7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StormSense turns this week's weather into next week's inventory plan — and puts the decision in a planner's hands in minutes.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146304" cy="146304"/>
          </a:xfrm>
          <a:prstGeom prst="ellipse">
            <a:avLst/>
          </a:prstGeom>
          <a:solidFill>
            <a:srgbClr val="73D6CD"/>
          </a:solidFill>
          <a:ln w="12700">
            <a:solidFill>
              <a:srgbClr val="73D6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→ forecast → shortage &amp; surplus → transfer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806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EB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answered every morning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4892040"/>
            <a:ext cx="146304" cy="146304"/>
          </a:xfrm>
          <a:prstGeom prst="ellipse">
            <a:avLst/>
          </a:prstGeom>
          <a:solidFill>
            <a:srgbClr val="73D6CD"/>
          </a:solidFill>
          <a:ln w="12700">
            <a:solidFill>
              <a:srgbClr val="73D6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asserted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97680" y="5806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EB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 weighted error against 0.67 for the naive baseline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4892040"/>
            <a:ext cx="146304" cy="146304"/>
          </a:xfrm>
          <a:prstGeom prst="ellipse">
            <a:avLst/>
          </a:prstGeom>
          <a:solidFill>
            <a:srgbClr val="73D6CD"/>
          </a:solidFill>
          <a:ln w="12700">
            <a:solidFill>
              <a:srgbClr val="73D6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from code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55280" y="5806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EB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Databricks, the API and the app are all reproducible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2026-10-08T10:17:58Z</dcterms:created>
  <dcterms:modified xsi:type="dcterms:W3CDTF">2026-10-08T10:17:58Z</dcterms:modified>
</cp:coreProperties>
</file>